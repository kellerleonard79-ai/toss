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37f75c2f4f96c24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37f75c2f4f96c24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37f75c2f4f96c24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37f75c2f4f96c24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37f75c2f4f96c24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37f75c2f4f96c2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377e7c2b04ac99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7377e7c2b04ac99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674EA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TOSSpensacola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0"/>
            <a:ext cx="5188200" cy="20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TOSS</a:t>
            </a:r>
            <a:r>
              <a:rPr lang="en" sz="8400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 inc.</a:t>
            </a:r>
            <a:endParaRPr sz="8400"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>
                <a:solidFill>
                  <a:srgbClr val="00FF00"/>
                </a:solidFill>
              </a:rPr>
              <a:t>Jones Moore &amp; Elana Millhouse-Smith</a:t>
            </a:r>
            <a:endParaRPr i="1" sz="2600">
              <a:solidFill>
                <a:srgbClr val="00FF00"/>
              </a:solidFill>
            </a:endParaRPr>
          </a:p>
        </p:txBody>
      </p:sp>
      <p:pic>
        <p:nvPicPr>
          <p:cNvPr id="56" name="Google Shape;56;p1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100" y="152400"/>
            <a:ext cx="4198500" cy="41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38" y="1104900"/>
            <a:ext cx="4322325" cy="43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Business</a:t>
            </a:r>
            <a:r>
              <a:rPr lang="en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 Description</a:t>
            </a:r>
            <a:endParaRPr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155850" y="10177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TOSS Inc. (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Throwables Offering Sustainable Solutions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) is a Florida 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nonprofit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 corporation dedicated to 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reducing the environmental impact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 of traditional Mardi Gras celebrations. Each parade season, krewes distribute massive quantities of single use plastic beads and throws, much of which ends up in 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landfills and local waterway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s, TOSS Inc. was made to address this problem. </a:t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By 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partnering with Louisiana State University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's, their </a:t>
            </a:r>
            <a:r>
              <a:rPr i="1"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PlantMe Beads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 program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 can supply biodegradable throw alternatives to krewes and parade organizations free of charge — 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making sustainable choices as accessible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 as their plastic counterparts. </a:t>
            </a:r>
            <a:r>
              <a:rPr lang="en">
                <a:solidFill>
                  <a:srgbClr val="00FF00"/>
                </a:solidFill>
                <a:latin typeface="Cambria"/>
                <a:ea typeface="Cambria"/>
                <a:cs typeface="Cambria"/>
                <a:sym typeface="Cambria"/>
              </a:rPr>
              <a:t>Funded entirely through charitable donations</a:t>
            </a: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, TOSS Inc. is working to prove that Gulf Coast tradition and environmental responsibility can coexist, one parade at a time.</a:t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025616" y="219610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20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Progress!</a:t>
            </a:r>
            <a:endParaRPr b="1" sz="4020"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9" name="Google Shape;69;p15" title="Screenshot 2026-09-26 at 3.46.57 PM.png"/>
          <p:cNvPicPr preferRelativeResize="0"/>
          <p:nvPr/>
        </p:nvPicPr>
        <p:blipFill rotWithShape="1">
          <a:blip r:embed="rId3">
            <a:alphaModFix/>
          </a:blip>
          <a:srcRect b="0" l="54436" r="0" t="0"/>
          <a:stretch/>
        </p:blipFill>
        <p:spPr>
          <a:xfrm>
            <a:off x="6343413" y="298300"/>
            <a:ext cx="326475" cy="161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Screenshot 2026-09-26 at 3.46.57 PM.png"/>
          <p:cNvPicPr preferRelativeResize="0"/>
          <p:nvPr/>
        </p:nvPicPr>
        <p:blipFill rotWithShape="1">
          <a:blip r:embed="rId3">
            <a:alphaModFix/>
          </a:blip>
          <a:srcRect b="0" l="54436" r="0" t="0"/>
          <a:stretch/>
        </p:blipFill>
        <p:spPr>
          <a:xfrm>
            <a:off x="6343413" y="1206075"/>
            <a:ext cx="326475" cy="16185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4803925" y="3395100"/>
            <a:ext cx="3125400" cy="1748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027825" y="210775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020">
                <a:solidFill>
                  <a:srgbClr val="00FF00"/>
                </a:solidFill>
                <a:latin typeface="Impact"/>
                <a:ea typeface="Impact"/>
                <a:cs typeface="Impact"/>
                <a:sym typeface="Impact"/>
              </a:rPr>
              <a:t>Progress!</a:t>
            </a:r>
            <a:endParaRPr b="1" sz="4020">
              <a:solidFill>
                <a:srgbClr val="00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3" name="Google Shape;73;p15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" y="-565007"/>
            <a:ext cx="3199575" cy="31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22-220779_printable-fundraising-thermometer-clipart-fundraising-thermometer-p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866" y="76200"/>
            <a:ext cx="2253510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6703981" y="210775"/>
            <a:ext cx="1767300" cy="364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$3,000</a:t>
            </a:r>
            <a:endParaRPr b="1" sz="3800"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235756" y="1660200"/>
            <a:ext cx="1767300" cy="364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$2,000</a:t>
            </a:r>
            <a:endParaRPr b="1" sz="2800"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7235756" y="2915050"/>
            <a:ext cx="1767300" cy="364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$1,000</a:t>
            </a:r>
            <a:endParaRPr b="1" sz="2800"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8" name="Google Shape;78;p15" title="Screenshot 2026-09-26 at 3.46.57 PM.png"/>
          <p:cNvPicPr preferRelativeResize="0"/>
          <p:nvPr/>
        </p:nvPicPr>
        <p:blipFill rotWithShape="1">
          <a:blip r:embed="rId3">
            <a:alphaModFix/>
          </a:blip>
          <a:srcRect b="0" l="54436" r="0" t="0"/>
          <a:stretch/>
        </p:blipFill>
        <p:spPr>
          <a:xfrm>
            <a:off x="6347993" y="2824650"/>
            <a:ext cx="314950" cy="161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Screenshot 2026-09-26 at 3.46.57 PM.png"/>
          <p:cNvPicPr preferRelativeResize="0"/>
          <p:nvPr/>
        </p:nvPicPr>
        <p:blipFill rotWithShape="1">
          <a:blip r:embed="rId3">
            <a:alphaModFix/>
          </a:blip>
          <a:srcRect b="0" l="54436" r="0" t="57889"/>
          <a:stretch/>
        </p:blipFill>
        <p:spPr>
          <a:xfrm>
            <a:off x="6349175" y="4205782"/>
            <a:ext cx="314950" cy="6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Screenshot 2026-09-26 at 3.46.57 PM.png"/>
          <p:cNvPicPr preferRelativeResize="0"/>
          <p:nvPr/>
        </p:nvPicPr>
        <p:blipFill rotWithShape="1">
          <a:blip r:embed="rId3">
            <a:alphaModFix/>
          </a:blip>
          <a:srcRect b="61937" l="0" r="0" t="0"/>
          <a:stretch/>
        </p:blipFill>
        <p:spPr>
          <a:xfrm>
            <a:off x="6173350" y="4343725"/>
            <a:ext cx="666600" cy="681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444541">
            <a:off x="939621" y="1216606"/>
            <a:ext cx="4662010" cy="3108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-194550"/>
            <a:ext cx="9144000" cy="8025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 cap="flat" cmpd="sng" w="952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646" y="-618137"/>
            <a:ext cx="1682075" cy="16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5909575" y="834950"/>
            <a:ext cx="28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124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7060675" y="-28350"/>
            <a:ext cx="1913100" cy="470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900FF"/>
                </a:solidFill>
                <a:latin typeface="Impact"/>
                <a:ea typeface="Impact"/>
                <a:cs typeface="Impact"/>
                <a:sym typeface="Impact"/>
              </a:rPr>
              <a:t>Donate Today!</a:t>
            </a:r>
            <a:endParaRPr sz="1900">
              <a:solidFill>
                <a:srgbClr val="99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4">
            <a:alphaModFix/>
          </a:blip>
          <a:srcRect b="2957" l="0" r="0" t="14685"/>
          <a:stretch/>
        </p:blipFill>
        <p:spPr>
          <a:xfrm>
            <a:off x="428275" y="599948"/>
            <a:ext cx="3747600" cy="20589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275" y="2650487"/>
            <a:ext cx="3747600" cy="2499300"/>
          </a:xfrm>
          <a:prstGeom prst="round2DiagRect">
            <a:avLst>
              <a:gd fmla="val 0" name="adj1"/>
              <a:gd fmla="val 50000" name="adj2"/>
            </a:avLst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4438375" y="636300"/>
            <a:ext cx="4353000" cy="2002200"/>
          </a:xfrm>
          <a:prstGeom prst="flowChartAlternateProcess">
            <a:avLst/>
          </a:prstGeom>
          <a:solidFill>
            <a:srgbClr val="D9EAD3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0124D"/>
                </a:solidFill>
                <a:latin typeface="Cambria"/>
                <a:ea typeface="Cambria"/>
                <a:cs typeface="Cambria"/>
                <a:sym typeface="Cambria"/>
              </a:rPr>
              <a:t>TOSS Inc. is a Pensacola, Florida-based nonprofit working to eliminate single-use plastic from Mardi Gras celebrations by providing biodegradable throw alternatives to krewes and parade organizations across the Gulf Coast.</a:t>
            </a:r>
            <a:endParaRPr sz="1600"/>
          </a:p>
        </p:txBody>
      </p:sp>
      <p:sp>
        <p:nvSpPr>
          <p:cNvPr id="93" name="Google Shape;93;p16"/>
          <p:cNvSpPr txBox="1"/>
          <p:nvPr/>
        </p:nvSpPr>
        <p:spPr>
          <a:xfrm>
            <a:off x="5309745" y="-8850"/>
            <a:ext cx="191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FF00"/>
                </a:solidFill>
              </a:rPr>
              <a:t>Contact Us!</a:t>
            </a:r>
            <a:endParaRPr sz="16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Impact"/>
                <a:ea typeface="Impact"/>
                <a:cs typeface="Impact"/>
                <a:sym typeface="Impact"/>
              </a:rPr>
              <a:t>Contact Us At:</a:t>
            </a:r>
            <a:endParaRPr>
              <a:solidFill>
                <a:srgbClr val="FFFF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Email Us: TOSSpensacola@gmail.com</a:t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ambria"/>
                <a:ea typeface="Cambria"/>
                <a:cs typeface="Cambria"/>
                <a:sym typeface="Cambria"/>
              </a:rPr>
              <a:t>Text Us: +1 (850) 293 - 7426</a:t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